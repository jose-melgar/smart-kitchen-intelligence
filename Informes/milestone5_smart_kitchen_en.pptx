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377440" cy="23774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4023360"/>
            <a:ext cx="2011680" cy="2011680"/>
          </a:xfrm>
          <a:prstGeom prst="ellipse">
            <a:avLst/>
          </a:prstGeom>
          <a:solidFill>
            <a:srgbClr val="97BC62">
              <a:alpha val="40000"/>
            </a:srgbClr>
          </a:solidFill>
          <a:ln w="12700">
            <a:solidFill>
              <a:srgbClr val="97BC62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WEEK 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Kitchen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 Graph Analytics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PageRank Centrality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Reyna Alvarado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Melgar Puertas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4069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1ACC0221  ·  Big Data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Adrián Alarcón Delgado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implicit co-occurrence relations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move from a flat view of transactions to a network representation.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 which products are purchased together within the same household restock session.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network theory, items stop being independent rows in a database and become an interconnected ecosystem that reflects real consumption patterns.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77840" y="1371600"/>
            <a:ext cx="31089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15000" y="1508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UNDIRECTED, WEIGHTED GRAPH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06540" y="2263140"/>
            <a:ext cx="1257300" cy="205740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H="1">
            <a:off x="6117336" y="2263140"/>
            <a:ext cx="489204" cy="1019556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606540" y="2263140"/>
            <a:ext cx="809244" cy="1220724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H="1">
            <a:off x="7415784" y="2468880"/>
            <a:ext cx="448056" cy="1014984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863840" y="2468880"/>
            <a:ext cx="329184" cy="603504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117336" y="3282696"/>
            <a:ext cx="1298448" cy="201168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7415784" y="3072384"/>
            <a:ext cx="777240" cy="411480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117336" y="3282696"/>
            <a:ext cx="676656" cy="768096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>
            <a:off x="6793992" y="3483864"/>
            <a:ext cx="621792" cy="566928"/>
          </a:xfrm>
          <a:prstGeom prst="line">
            <a:avLst/>
          </a:prstGeom>
          <a:noFill/>
          <a:ln w="15240">
            <a:solidFill>
              <a:srgbClr val="C9D2C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446520" y="2103120"/>
            <a:ext cx="320040" cy="320040"/>
          </a:xfrm>
          <a:prstGeom prst="ellipse">
            <a:avLst/>
          </a:prstGeom>
          <a:solidFill>
            <a:srgbClr val="D4583B"/>
          </a:solidFill>
          <a:ln w="12700">
            <a:solidFill>
              <a:srgbClr val="D458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2331720"/>
            <a:ext cx="274320" cy="2743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3154680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9480" y="3337560"/>
            <a:ext cx="292608" cy="29260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2971800"/>
            <a:ext cx="201168" cy="20116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3931920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42976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= a product    ·    Each edge = weighted co-occurrence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  ·  Milestone 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construction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45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src/graph_construction.py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binary restock-session matrix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1,177 sessions  ×  50 catalog products.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matrix multiplication: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A_ij = number of sessions where i and j coexist.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diagonal is discarded to avoid self-reference.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49240" y="132588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B3A1B"/>
          </a:solidFill>
          <a:ln w="12700">
            <a:solidFill>
              <a:srgbClr val="1B3A1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4068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FORMULA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49240" y="1783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Rᵀ · 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4924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∈ {0,1}^(1177 × 50)    →    A ∈ ℕ^(50 × 50)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49240" y="33375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58968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ARTIFACT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58968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data/recommender/kitchen_graph.gexf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58968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XML format, interoperable with Gephi and Cytoscape.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  ·  Milestone 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fully connected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product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3258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417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5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1,225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514600" y="2194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C(50,2) — complete graph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417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72000" y="2194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products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29400" y="13258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1417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629400" y="2194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pairs co-occurred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1B3A1B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46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520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connectivity was expected </a:t>
            </a:r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households, 50 products, 90 days of simulation)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real value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in the edge weights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they separate systematic concurrent purchases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those that happen purely by chance.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  ·  Milestone 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degree: the first lens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degree = 49 for EVERY node.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Useless for discrimination in a complete graph.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degree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sum of the weights of all edges incident to a node.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Top-range products act as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products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connect dissimilar consumption patterns.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0" y="132588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492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degree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92240" y="1371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1,613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937760" y="242316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2514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degree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1,822.8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937760" y="352044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degree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D45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1,996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1148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  ·  Milestone 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CENTRALITY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Transitive influence in the co-purchase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1B3A1B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PARAMETERS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damping factor (Brin &amp; Page, 1998)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weight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a product is central if it co-occurs with other central products.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5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src/graph_analytics.py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nx.pagerank(G, weight='weight')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 ·  MOST CENTRAL PRODUCTS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6916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691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Onions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1812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9659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1965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Strawberries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18120" y="1965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240280"/>
            <a:ext cx="4023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2402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240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Avocado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18120" y="2240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514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2514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Seedless Red Grapes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18120" y="2514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788920"/>
            <a:ext cx="4023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788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2788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Raspberries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18120" y="2788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3063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3063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Strawberries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18120" y="3063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337560"/>
            <a:ext cx="4023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337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3337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Baby Spinach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18120" y="3337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09160" y="3611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3611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Whole Wheat Bread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1812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0.0209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3886200"/>
            <a:ext cx="4023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886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74920" y="38862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Hass Avocado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818120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09160" y="4160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74920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Sparkling Water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18120" y="4160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0.0207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1148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  ·  Milestone 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AS RANKING  ·  MASKED BASKET COMPLETION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against the 5 systems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08760"/>
                <a:gridCol w="1508760"/>
                <a:gridCol w="1508760"/>
                <a:gridCol w="1508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Coverage@5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0.0508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0.1167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0.0539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8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22.0 %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5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PageRank 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8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0.0541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8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0.1283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8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0.0595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8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26.0 %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(TF-IDF)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0.0450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0.1037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0.0511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84.0 %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 (ALS)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0.0467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0.1125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0.0549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100.0 %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0.0494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0.1177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0.0574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100.0 %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B3A1B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 &gt;  Popularity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+6.5% Precision · +10.4% MAP.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Topological centrality carries richer signal than plain frequency counts.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  ·  Milestone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LIMITATION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Standalone PageRank fails on coverage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D458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ALONE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D45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Coverage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 identical products served to every user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RECOMMENDER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7373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Coverage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transactional signal + personalization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B3A1B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technical reason why the production model cannot be a pure graph: it ignores fine-grained personalization and individual taste.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  ·  Milestone 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  ·  src/recommender_hybrid.py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ensemble of three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182880" cy="1828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 (TF-IDF)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metadata and categories vectorized.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 w = 0.35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17320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 (ALS)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factors from session × product matrix.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377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 w = 0.45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417320"/>
            <a:ext cx="182880" cy="182880"/>
          </a:xfrm>
          <a:prstGeom prst="ellipse">
            <a:avLst/>
          </a:prstGeom>
          <a:solidFill>
            <a:srgbClr val="D4583B"/>
          </a:solidFill>
          <a:ln w="12700">
            <a:solidFill>
              <a:srgbClr val="D458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 (Expiry)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1691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expiry for live household inventory.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2377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 w = 0.20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1691640"/>
          </a:xfrm>
          <a:prstGeom prst="roundRect">
            <a:avLst>
              <a:gd name="adj" fmla="val 5405"/>
            </a:avLst>
          </a:prstGeom>
          <a:solidFill>
            <a:srgbClr val="1B3A1B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ENSEMBLE  ·  final re-ranking of recommendations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algn="ctr" indent="0" marL="0">
              <a:buNone/>
            </a:pPr>
            <a:r>
              <a:rPr lang="en-US" sz="1600" b="1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 · Ŝ</a:t>
            </a:r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0.45 · Ŝ</a:t>
            </a:r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0.20 · Ŝ</a:t>
            </a:r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Ŝ is Min-Max normalized per session before combination.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  ·  Milestone 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2377440" cy="23774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840480"/>
            <a:ext cx="1828800" cy="1828800"/>
          </a:xfrm>
          <a:prstGeom prst="ellipse">
            <a:avLst/>
          </a:prstGeom>
          <a:solidFill>
            <a:srgbClr val="97BC62">
              <a:alpha val="40000"/>
            </a:srgbClr>
          </a:solidFill>
          <a:ln w="12700">
            <a:solidFill>
              <a:srgbClr val="97BC62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D4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synergy: graph and content offset each other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2240280"/>
          </a:xfrm>
          <a:prstGeom prst="roundRect">
            <a:avLst>
              <a:gd name="adj" fmla="val 4082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 ·  COLD START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product, or a newly registered household.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transactional signal fades to 0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system leans on the </a:t>
            </a:r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arm (TF-IDF)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never breaks.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4023360" cy="2240280"/>
          </a:xfrm>
          <a:prstGeom prst="roundRect">
            <a:avLst>
              <a:gd name="adj" fmla="val 4082"/>
            </a:avLst>
          </a:prstGeom>
          <a:solidFill>
            <a:srgbClr val="D4583B"/>
          </a:solidFill>
          <a:ln w="12700">
            <a:solidFill>
              <a:srgbClr val="D458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 ·  STEADY USE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24028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interactions accumulate,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200" b="1" dirty="0">
                <a:solidFill>
                  <a:srgbClr val="FFE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 signal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wakes up and adds weight organically — sharpening precision without sacrificing the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catalog coverage.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centrality is now empirically validated as a predictive signal.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6 will integrate it as the fourth component of the ensemble.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18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Kitchen Intelligence — Milestone 5</dc:title>
  <dc:subject>PptxGenJS Presentation</dc:subject>
  <dc:creator>Gabriel Reyna · José Melgar</dc:creator>
  <cp:lastModifiedBy>Gabriel Reyna · José Melgar</cp:lastModifiedBy>
  <cp:revision>1</cp:revision>
  <dcterms:created xsi:type="dcterms:W3CDTF">2026-06-27T08:28:03Z</dcterms:created>
  <dcterms:modified xsi:type="dcterms:W3CDTF">2026-06-27T08:28:03Z</dcterms:modified>
</cp:coreProperties>
</file>
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2377440" cy="237744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4023360"/>
            <a:ext cx="2011680" cy="2011680"/>
          </a:xfrm>
          <a:prstGeom prst="ellipse">
            <a:avLst/>
          </a:prstGeom>
          <a:solidFill>
            <a:srgbClr val="97BC62">
              <a:alpha val="40000"/>
            </a:srgbClr>
          </a:solidFill>
          <a:ln w="12700">
            <a:solidFill>
              <a:srgbClr val="97BC62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 5  ·  SEMANA 12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229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Kitchen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48640" y="3154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Analítica de Grafos de Co-ocurrencia</a:t>
            </a:r>
            <a:endParaRPr lang="en-US" sz="2000" dirty="0"/>
          </a:p>
          <a:p>
            <a:pPr indent="0" marL="0">
              <a:buNone/>
            </a:pPr>
            <a:r>
              <a:rPr lang="en-US" sz="2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Centralidad PageRank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4069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 Reyna Alvarado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José Melgar Puertas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37760" y="40690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 </a:t>
            </a:r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1ACC0221  ·  Big Data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 </a:t>
            </a:r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Adrián Alarcón Delgado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5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Modelar relaciones de co-ocurrencia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Pasamos de un análisis plano de transacciones a una representación de red.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Mapeamos qué productos se adquieren de forma conjunta en una misma sesión de reabastecimiento del hogar.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teoría de redes, los alimentos dejan de ser filas independientes y se convierten en un ecosistema interconectado que refleja patrones de comportamiento reales.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577840" y="1371600"/>
            <a:ext cx="310896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C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715000" y="15087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NO DIRIGIDA Y PONDERADA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606540" y="2263140"/>
            <a:ext cx="1257300" cy="205740"/>
          </a:xfrm>
          <a:prstGeom prst="line">
            <a:avLst/>
          </a:prstGeom>
          <a:noFill/>
          <a:ln w="15240">
            <a:solidFill>
              <a:srgbClr val="C9D2C0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H="1">
            <a:off x="6117336" y="2263140"/>
            <a:ext cx="489204" cy="1019556"/>
          </a:xfrm>
          <a:prstGeom prst="line">
            <a:avLst/>
          </a:prstGeom>
          <a:noFill/>
          <a:ln w="15240">
            <a:solidFill>
              <a:srgbClr val="C9D2C0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6606540" y="2263140"/>
            <a:ext cx="809244" cy="1220724"/>
          </a:xfrm>
          <a:prstGeom prst="line">
            <a:avLst/>
          </a:prstGeom>
          <a:noFill/>
          <a:ln w="15240">
            <a:solidFill>
              <a:srgbClr val="C9D2C0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 flipH="1">
            <a:off x="7415784" y="2468880"/>
            <a:ext cx="448056" cy="1014984"/>
          </a:xfrm>
          <a:prstGeom prst="line">
            <a:avLst/>
          </a:prstGeom>
          <a:noFill/>
          <a:ln w="15240">
            <a:solidFill>
              <a:srgbClr val="C9D2C0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7863840" y="2468880"/>
            <a:ext cx="329184" cy="603504"/>
          </a:xfrm>
          <a:prstGeom prst="line">
            <a:avLst/>
          </a:prstGeom>
          <a:noFill/>
          <a:ln w="15240">
            <a:solidFill>
              <a:srgbClr val="C9D2C0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6117336" y="3282696"/>
            <a:ext cx="1298448" cy="201168"/>
          </a:xfrm>
          <a:prstGeom prst="line">
            <a:avLst/>
          </a:prstGeom>
          <a:noFill/>
          <a:ln w="15240">
            <a:solidFill>
              <a:srgbClr val="C9D2C0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 flipV="1">
            <a:off x="7415784" y="3072384"/>
            <a:ext cx="777240" cy="411480"/>
          </a:xfrm>
          <a:prstGeom prst="line">
            <a:avLst/>
          </a:prstGeom>
          <a:noFill/>
          <a:ln w="15240">
            <a:solidFill>
              <a:srgbClr val="C9D2C0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6117336" y="3282696"/>
            <a:ext cx="676656" cy="768096"/>
          </a:xfrm>
          <a:prstGeom prst="line">
            <a:avLst/>
          </a:prstGeom>
          <a:noFill/>
          <a:ln w="15240">
            <a:solidFill>
              <a:srgbClr val="C9D2C0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 flipH="1">
            <a:off x="6793992" y="3483864"/>
            <a:ext cx="621792" cy="566928"/>
          </a:xfrm>
          <a:prstGeom prst="line">
            <a:avLst/>
          </a:prstGeom>
          <a:noFill/>
          <a:ln w="15240">
            <a:solidFill>
              <a:srgbClr val="C9D2C0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6446520" y="2103120"/>
            <a:ext cx="320040" cy="320040"/>
          </a:xfrm>
          <a:prstGeom prst="ellipse">
            <a:avLst/>
          </a:prstGeom>
          <a:solidFill>
            <a:srgbClr val="D4583B"/>
          </a:solidFill>
          <a:ln w="12700">
            <a:solidFill>
              <a:srgbClr val="D458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26680" y="2331720"/>
            <a:ext cx="274320" cy="2743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89320" y="3154680"/>
            <a:ext cx="256032" cy="256032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69480" y="3337560"/>
            <a:ext cx="292608" cy="292608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92440" y="2971800"/>
            <a:ext cx="201168" cy="201168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75120" y="3931920"/>
            <a:ext cx="237744" cy="23774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23560" y="429768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B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nodo = un producto    ·    Cada arista = co-ocurrencia ponderada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148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Kitchen Intelligence  ·  Hito 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8181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5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Construcción del grafo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B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Script: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D458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src/graph_construction.py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Entrada: matriz binaria de sesiones de restock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1,177 sesiones  ×  50 productos del catálogo.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Multiplicación matricial clásica: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A_ij = nº de sesiones en las que i y j coexisten.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B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descarta la diagonal para evitar la auto-referencia.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349240" y="132588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1B3A1B"/>
          </a:solidFill>
          <a:ln w="12700">
            <a:solidFill>
              <a:srgbClr val="1B3A1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40680" y="1417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NUCLEAR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349240" y="17830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= Rᵀ · R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349240" y="2651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∈ {0,1}^(1177 × 50)    →    A ∈ ℕ^(50 × 50)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49240" y="3337560"/>
            <a:ext cx="33832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C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58968" y="3429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ARTEFACTO DE SALIDA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58968" y="3703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data/recommender/kitchen_graph.gexf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58968" y="4023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XML estándar interoperable con Gephi y Cytoscape.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Kitchen Intelligence  ·  Hito 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8181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5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DEL GRAFO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red completamente conectada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8745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4173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B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por producto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14600" y="1325880"/>
            <a:ext cx="18745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14173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45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1,225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2514600" y="21945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Aristas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14600" y="24688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B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C(50,2) — grafo completo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1325880"/>
            <a:ext cx="18745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14173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4572000" y="21945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conexa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24688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B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de los productos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629400" y="1325880"/>
            <a:ext cx="18745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29400" y="14173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6629400" y="21945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Densidad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29400" y="24688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B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co-aparecieron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154680"/>
            <a:ext cx="8229600" cy="1417320"/>
          </a:xfrm>
          <a:prstGeom prst="roundRect">
            <a:avLst>
              <a:gd name="adj" fmla="val 6452"/>
            </a:avLst>
          </a:prstGeom>
          <a:solidFill>
            <a:srgbClr val="1B3A1B"/>
          </a:solidFill>
          <a:ln w="12700">
            <a:solidFill>
              <a:srgbClr val="1B3A1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2461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CLAVE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" y="35204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conectividad total era esperable </a:t>
            </a:r>
            <a:pPr indent="0" marL="0"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 hogares, 50 productos, 90 días de simulación)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El valor real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D45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 en los pesos de las aristas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separan compras concurrentes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sistemáticas de aquellas que ocurren puramente al azar.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1148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Kitchen Intelligence  ·  Hito 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8181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5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ESTRUCTURALES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Grado ponderado: la primera lente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4206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grado simple = 49 para TODOS los nodos.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B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discrimina nada en un grafo completo.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Usamos el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D45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 ponderado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suma de los pesos de todas las aristas incidentes a un nodo.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productos del rango alto actúan como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puente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conectan patrones de consumo disímiles.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937760" y="1325880"/>
            <a:ext cx="37490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C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74920" y="1417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B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4920" y="1737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 ponderado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92240" y="13716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1,613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937760" y="2423160"/>
            <a:ext cx="37490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C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74920" y="2514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B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74920" y="2834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 ponderado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92240" y="24688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1,822.8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4937760" y="3520440"/>
            <a:ext cx="37490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C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74920" y="36118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B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74920" y="3931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 ponderado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92240" y="35661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D45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1,996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1148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Kitchen Intelligence  ·  Hito 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8181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5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CENTRALIDAD PAGERANK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Influencia transitiva en la red de co-compra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31920" cy="3246120"/>
          </a:xfrm>
          <a:prstGeom prst="roundRect">
            <a:avLst>
              <a:gd name="adj" fmla="val 2817"/>
            </a:avLst>
          </a:prstGeom>
          <a:solidFill>
            <a:srgbClr val="1B3A1B"/>
          </a:solidFill>
          <a:ln w="12700">
            <a:solidFill>
              <a:srgbClr val="1B3A1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 DEL ALGORITMO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de amortiguación estándar (Brin &amp; Page, 1998)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de arista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co-ocurrencias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Lectura: un producto es central si co-ocurre con otros productos también centrales.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3794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58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src/graph_analytics.py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4114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nx.pagerank(G, weight='weight')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3440" y="1371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D45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 ·  PRODUCTOS MÁS CENTRALES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691640"/>
            <a:ext cx="4023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6916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5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74920" y="16916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Onions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818120" y="16916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0.0216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09160" y="196596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5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74920" y="19659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Strawberries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818120" y="1965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0.0216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240280"/>
            <a:ext cx="4023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22402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5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74920" y="22402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Avocado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818120" y="22402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0.0215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09160" y="25146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5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74920" y="25146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Seedless Red Grapes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818120" y="2514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0.0214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2788920"/>
            <a:ext cx="4023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27889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5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74920" y="27889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Raspberries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818120" y="27889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0.0214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09160" y="30632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5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74920" y="30632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Strawberries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818120" y="3063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0.0213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0" y="3337560"/>
            <a:ext cx="4023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333756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5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74920" y="33375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Baby Spinach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818120" y="33375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0.0210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09160" y="36118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5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74920" y="36118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Whole Wheat Bread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818120" y="3611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0.0209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63440" y="3886200"/>
            <a:ext cx="4023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38862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5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074920" y="38862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Hass Avocado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818120" y="3886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0.0208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709160" y="41605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5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074920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Sparkling Water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818120" y="4160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0.0207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1148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Kitchen Intelligence  ·  Hito 5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8181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5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PAGERANK COMO RANKING  ·  MASKED BASKET COMPLETION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 contra los 5 sistemas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508760"/>
                <a:gridCol w="1508760"/>
                <a:gridCol w="1508760"/>
                <a:gridCol w="15087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Precision@5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Recall@5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Coverage@5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1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0.0508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0.1167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0.0539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58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22.0 %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45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PageRank 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58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0.0541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58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0.1283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58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0.0595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58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26.0 %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(TF-IDF)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0.0450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0.1037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0.0511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84.0 %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 (ALS)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0.0467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0.1125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0.0549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100.0 %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0.0494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0.1177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0.0574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100.0 %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9319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1B3A1B"/>
          </a:solidFill>
          <a:ln w="12700">
            <a:solidFill>
              <a:srgbClr val="1B3A1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40233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PageRank  &gt;  Popularity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+6.5% Precision · +10.4% MAP.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La centralidad topológica contiene señales más ricas que el conteo plano.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1148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Kitchen Intelligence  ·  Hito 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8181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5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LIMITACIÓN CRÍTICA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PageRank aislado falla en cobertura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9050">
            <a:solidFill>
              <a:srgbClr val="D4583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463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D45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PAGERANK SOLO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D45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26 %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Coverage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B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 productos repetidos a todos los usuarios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325880"/>
            <a:ext cx="40233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1463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RECOMENDADOR HÍBRIDO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173736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100 %</a:t>
            </a:r>
            <a:endParaRPr lang="en-US" sz="9600" dirty="0"/>
          </a:p>
        </p:txBody>
      </p:sp>
      <p:sp>
        <p:nvSpPr>
          <p:cNvPr id="12" name="Text 10"/>
          <p:cNvSpPr/>
          <p:nvPr/>
        </p:nvSpPr>
        <p:spPr>
          <a:xfrm>
            <a:off x="4663440" y="29260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Coverage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63440" y="3246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B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 señal transaccional + personalización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1B3A1B"/>
          </a:solidFill>
          <a:ln w="12700">
            <a:solidFill>
              <a:srgbClr val="1B3A1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9319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justifica técnicamente por qué el modelo de producción no puede ser un grafo puro: ignora la personalización fina y los gustos individuales.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Kitchen Intelligence  ·  Hito 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181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5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HÍBRIDA  ·  src/recommender_hybrid.py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Ensamble lineal de tres señales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C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417320"/>
            <a:ext cx="182880" cy="18288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3716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 (TF-IDF)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Metadatos y categorías del catálogo vectorizados.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3774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Peso  w = 0.35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28016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C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417320"/>
            <a:ext cx="182880" cy="1828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13716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FILTRADO COLABORATIVO  (ALS)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83280" y="16916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Factores latentes desde sesiones × productos.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23774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Peso  w = 0.45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28016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C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1417320"/>
            <a:ext cx="182880" cy="182880"/>
          </a:xfrm>
          <a:prstGeom prst="ellipse">
            <a:avLst/>
          </a:prstGeom>
          <a:solidFill>
            <a:srgbClr val="D4583B"/>
          </a:solidFill>
          <a:ln w="12700">
            <a:solidFill>
              <a:srgbClr val="D458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3716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5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URGENCIA  (Expiry)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72200" y="16916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al vencimiento del inventario vivo.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72200" y="23774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Peso  w = 0.20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8229600" cy="1691640"/>
          </a:xfrm>
          <a:prstGeom prst="roundRect">
            <a:avLst>
              <a:gd name="adj" fmla="val 5405"/>
            </a:avLst>
          </a:prstGeom>
          <a:solidFill>
            <a:srgbClr val="1B3A1B"/>
          </a:solidFill>
          <a:ln w="12700">
            <a:solidFill>
              <a:srgbClr val="1B3A1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0175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ENSAMBLE LINEAL  ·  reordenamiento final de las recomendaciones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3832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pPr algn="ctr" indent="0" marL="0">
              <a:buNone/>
            </a:pPr>
            <a:r>
              <a:rPr lang="en-US" sz="1600" b="1" i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</a:t>
            </a:r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=  </a:t>
            </a:r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0.35 · Ŝ</a:t>
            </a:r>
            <a:pPr algn="ctr" indent="0" marL="0">
              <a:buNone/>
            </a:pPr>
            <a:r>
              <a:rPr lang="en-US" sz="16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+  0.45 · Ŝ</a:t>
            </a:r>
            <a:pPr algn="ctr" indent="0" marL="0">
              <a:buNone/>
            </a:pPr>
            <a:r>
              <a:rPr lang="en-US" sz="16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+  0.20 · Ŝ</a:t>
            </a:r>
            <a:pPr algn="ctr" indent="0" marL="0">
              <a:buNone/>
            </a:pPr>
            <a:r>
              <a:rPr lang="en-US" sz="16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Ŝ está normalizado Min-Max por sesión antes de combinarse.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Kitchen Intelligence  ·  Hito 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8181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914400"/>
            <a:ext cx="2377440" cy="237744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3840480"/>
            <a:ext cx="1828800" cy="1828800"/>
          </a:xfrm>
          <a:prstGeom prst="ellipse">
            <a:avLst/>
          </a:prstGeom>
          <a:solidFill>
            <a:srgbClr val="97BC62">
              <a:alpha val="40000"/>
            </a:srgbClr>
          </a:solidFill>
          <a:ln w="12700">
            <a:solidFill>
              <a:srgbClr val="97BC62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D45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Sinergia operativa: el grafo y el contenido se compensan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023360" cy="2240280"/>
          </a:xfrm>
          <a:prstGeom prst="roundRect">
            <a:avLst>
              <a:gd name="adj" fmla="val 4082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20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1  ·  COLD START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3749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nuevo o hogar recién registrado.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señal transaccional se atenúa a 0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el sistema se apoya en el brazo de </a:t>
            </a:r>
            <a:pPr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(TF-IDF)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no fallar.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783080"/>
            <a:ext cx="4023360" cy="2240280"/>
          </a:xfrm>
          <a:prstGeom prst="roundRect">
            <a:avLst>
              <a:gd name="adj" fmla="val 4082"/>
            </a:avLst>
          </a:prstGeom>
          <a:solidFill>
            <a:srgbClr val="D4583B"/>
          </a:solidFill>
          <a:ln w="12700">
            <a:solidFill>
              <a:srgbClr val="D458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920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2  ·  USO RECURRENTE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2240280"/>
            <a:ext cx="3749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medida que aparecen interacciones,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pPr indent="0" marL="0">
              <a:buNone/>
            </a:pPr>
            <a:r>
              <a:rPr lang="en-US" sz="1200" b="1" dirty="0">
                <a:solidFill>
                  <a:srgbClr val="FFE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 de co-ocurrencia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despierta y suma peso de forma orgánica, refinando la precisión sin sacrificar el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de cobertura del catálogo.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160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centralidad de red ya quedó validada empíricamente como señal predictiva.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Hito 6 la integrará como cuarto componente del ensamble.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8181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Kitchen Intelligence — Hito 5</dc:title>
  <dc:subject>PptxGenJS Presentation</dc:subject>
  <dc:creator>Gabriel Reyna · José Melgar</dc:creator>
  <cp:lastModifiedBy>Gabriel Reyna · José Melgar</cp:lastModifiedBy>
  <cp:revision>1</cp:revision>
  <dcterms:created xsi:type="dcterms:W3CDTF">2026-06-27T08:02:04Z</dcterms:created>
  <dcterms:modified xsi:type="dcterms:W3CDTF">2026-06-27T08:02:04Z</dcterms:modified>
</cp:coreProperties>
</file>
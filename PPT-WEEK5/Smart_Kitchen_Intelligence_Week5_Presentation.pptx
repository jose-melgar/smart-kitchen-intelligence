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819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Kitchen Intelligence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Feature Engineering &amp; Dimensionality Reduction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Analysis and Implementation Report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97480" cy="1645920"/>
          </a:xfrm>
          <a:prstGeom prst="rect">
            <a:avLst/>
          </a:prstGeom>
          <a:solidFill>
            <a:srgbClr val="F0F9F9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72,000 products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features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inventory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914400"/>
            <a:ext cx="2697480" cy="1645920"/>
          </a:xfrm>
          <a:prstGeom prst="rect">
            <a:avLst/>
          </a:prstGeom>
          <a:solidFill>
            <a:srgbClr val="F0F9F9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3520440" y="1051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13716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914400"/>
            <a:ext cx="2697480" cy="1645920"/>
          </a:xfrm>
          <a:prstGeom prst="rect">
            <a:avLst/>
          </a:prstGeom>
          <a:solidFill>
            <a:srgbClr val="F0F9F9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446520" y="1051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13716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engineered features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PCA components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variance retained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Dimensional Reduction  |  12 MB Data Matrix  |  100% Reproducible</a:t>
            </a:r>
            <a:endParaRPr lang="en-US" sz="13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5BDCC819-D391-71BE-BB43-79CBEEAB44FE}"/>
              </a:ext>
            </a:extLst>
          </p:cNvPr>
          <p:cNvSpPr/>
          <p:nvPr/>
        </p:nvSpPr>
        <p:spPr>
          <a:xfrm>
            <a:off x="3223260" y="2761488"/>
            <a:ext cx="2697480" cy="1645920"/>
          </a:xfrm>
          <a:prstGeom prst="rect">
            <a:avLst/>
          </a:prstGeom>
          <a:solidFill>
            <a:srgbClr val="F0F9F9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s-PE" sz="14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144D5FF2-BBAD-0665-4586-BADC26814DCD}"/>
              </a:ext>
            </a:extLst>
          </p:cNvPr>
          <p:cNvSpPr/>
          <p:nvPr/>
        </p:nvSpPr>
        <p:spPr>
          <a:xfrm>
            <a:off x="3360420" y="2926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DDB6706A-94E4-54A5-FC31-EF00601CD30E}"/>
              </a:ext>
            </a:extLst>
          </p:cNvPr>
          <p:cNvSpPr/>
          <p:nvPr/>
        </p:nvSpPr>
        <p:spPr>
          <a:xfrm>
            <a:off x="3360420" y="31318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Feature Engineering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7772400" cy="3200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Numeric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Calories, Protein, Carbs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StandardScaler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Categorical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~20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Food type, cuisine, diet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One-Hot Encoding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Text (NLP)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Product names &amp; descriptions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TF-IDF Vectorization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Temporal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Hour of day, day of week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Sine/Cosine Encoding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61 Features  |  Data Type: float32  |  Shape: (72,000 × 61)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Pipeline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1920" y="792480"/>
            <a:ext cx="14173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121920" y="7924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39240" y="1021080"/>
            <a:ext cx="228600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1676400" y="792480"/>
            <a:ext cx="141732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1676400" y="7924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93720" y="1021080"/>
            <a:ext cx="228600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3230880" y="792480"/>
            <a:ext cx="141732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3230880" y="7924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48200" y="1021080"/>
            <a:ext cx="228600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4785360" y="792480"/>
            <a:ext cx="141732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4785360" y="7924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(One-Hot)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02680" y="1021080"/>
            <a:ext cx="228600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6339840" y="792480"/>
            <a:ext cx="141732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339840" y="7924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(TF-IDF)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55800" y="1767840"/>
            <a:ext cx="228600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2092960" y="1539240"/>
            <a:ext cx="141732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2092960" y="15392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10280" y="1767840"/>
            <a:ext cx="228600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3647440" y="1539240"/>
            <a:ext cx="141732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3647440" y="15392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64760" y="1767840"/>
            <a:ext cx="228600" cy="914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5201920" y="1539240"/>
            <a:ext cx="14173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5201920" y="15392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solidFill>
            <a:srgbClr val="F0F9F9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278892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Shape: (72,000 × 61)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 type: float32 (memory efficient)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missing values (NaN check: 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Properly scaled (mean ≈ 0, std ≈ 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Value range: [-2.5, 3.5] standard deviations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(PCA)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PCA?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5852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dimensionality reduction technique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61 correlated features into uncorrelated principal components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maximum variance in fewest dimensions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computational complexity for clustering &amp; recommendation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287520" cy="4155948"/>
          </a:xfrm>
          <a:prstGeom prst="rect">
            <a:avLst/>
          </a:prstGeom>
          <a:solidFill>
            <a:srgbClr val="F0F9F9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4937760" y="1051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621792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dimensions: 61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components: 29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retained: 90.01%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reduction: 47.5%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time: &lt;2 seconds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Full singular value decomposition</a:t>
            </a:r>
            <a:endParaRPr lang="en-US" sz="11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39923CE-073B-232A-9605-60E4C60E5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39" y="2585715"/>
            <a:ext cx="3202321" cy="225045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0D24C20-0CE0-B570-E9C0-93D67EF71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446" y="2571750"/>
            <a:ext cx="3747354" cy="24104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Variance by Components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3474723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Variance (%)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Cumulative (%)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PC1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7.73%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7.73%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8090"/>
                          </a:solidFill>
                        </a:rPr>
                        <a:t>●●●●●●●●●●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PC1-5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20.76%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28.49%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A896"/>
                          </a:solidFill>
                        </a:rPr>
                        <a:t>●●●●●●●●●●●●●●●●●●●●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PC1-10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17.26%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45.75%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A896"/>
                          </a:solidFill>
                        </a:rPr>
                        <a:t>●●●●●●●●●●●●●●●●●●●●●●●●●●●●●●●●●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PC1-20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23.37%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69.12%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A896"/>
                          </a:solidFill>
                        </a:rPr>
                        <a:t>●●●●●●●●●●●●●●●●●●●●●●●●●●●●●●●●●●●●●●●●●●●●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PC1-25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12.11%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81.23%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A896"/>
                          </a:solidFill>
                        </a:rPr>
                        <a:t>●●●●●●●●●●●●●●●●●●●●●●●●●●●●●●●●●●●●●●●●●●●●●●●●●●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PC1-29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8.78%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90.01%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2C39A"/>
                          </a:solidFill>
                        </a:rPr>
                        <a:t>●●●●●●●●●●●●●●●●●●●●●●●●●●●●●●●●●●●●●●●●●●●●●●●●●●●●●●●●●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29 components retain 90.01% variance with 47% dimensional reduction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29 Components?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0F9F9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987552"/>
            <a:ext cx="1645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components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987552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85.21%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987552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0" y="987552"/>
            <a:ext cx="3383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5% crucial information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solidFill>
            <a:srgbClr val="F0F9F9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40080" y="1673352"/>
            <a:ext cx="1645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components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1673352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87.15%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673352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673352"/>
            <a:ext cx="3383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short of 90% threshold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solidFill>
            <a:srgbClr val="02C39A"/>
          </a:solidFill>
          <a:ln w="254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640080" y="2359152"/>
            <a:ext cx="1645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components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2359152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90.01%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359152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359152"/>
            <a:ext cx="3383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OPTIMAL BALANCE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8229600" cy="594360"/>
          </a:xfrm>
          <a:prstGeom prst="rect">
            <a:avLst/>
          </a:prstGeom>
          <a:solidFill>
            <a:srgbClr val="F0F9F9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640080" y="3044952"/>
            <a:ext cx="1645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components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3044952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92.47%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3044952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3044952"/>
            <a:ext cx="3383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2.5% gain for 6 extra dims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F0F9F9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640080" y="3730752"/>
            <a:ext cx="1645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components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3730752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3730752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3730752"/>
            <a:ext cx="3383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reduction (defeats purpose)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Decisions &amp; Justifications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F0F9F9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Polars over Pandas for Data Processing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5-7x faster processing  |  50% less memory  |  Better for 72k row operations  |  Type-safe 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188720"/>
          </a:xfrm>
          <a:prstGeom prst="rect">
            <a:avLst/>
          </a:prstGeom>
          <a:solidFill>
            <a:srgbClr val="F0F9F9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One-Hot Encoding for Categorical Variables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implicit ordinal relationships  |  Prevents model bias  |  ML algorithms expect numeric input  |  Compatible with PCA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F0F9F9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TF-IDF for Text Vectorization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term frequency and inverse document frequency  |  Captures semantic meaning  |  Lower complexity than Word2Vec/BERT  |  Interpretable weights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Validation Results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3474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6/6 scripts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syntax check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executable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560320" cy="34747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338328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55448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Shape verified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NaN values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Properly scaled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2560320" cy="3474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12648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55448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Variance sum = 100%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Serializable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Reproducible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0F9F9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SYSTEMS GO - Ready for clustering (Week 7)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931920" cy="1828800"/>
          </a:xfrm>
          <a:prstGeom prst="rect">
            <a:avLst/>
          </a:prstGeom>
          <a:solidFill>
            <a:srgbClr val="F0F9F9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PyArrow Compatibility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ModuleNotFoundError with Polars 1.40.1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PyArrow 24.0.0 with correct flags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compatibility verified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3931920" cy="1828800"/>
          </a:xfrm>
          <a:prstGeom prst="rect">
            <a:avLst/>
          </a:prstGeom>
          <a:solidFill>
            <a:srgbClr val="F0F9F9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489204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Distribution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1887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explained only 7.73% (expected 40%+)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features are orthogonal (1.9% correlation)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Normal &amp; desirable behavior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0F9F9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Automated 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verification of Week 5 completeness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validate_week5.py with 7 automated checks (180 lines)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JSON report generation + complete verification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914400"/>
            <a:ext cx="210312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2377440" y="914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Polars 1.40.1, NumPy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114800" cy="457200"/>
          </a:xfrm>
          <a:prstGeom prst="rect">
            <a:avLst/>
          </a:prstGeom>
          <a:solidFill>
            <a:srgbClr val="F0F9F9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66344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memory-efficient operations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18288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ML/Reduction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463040"/>
            <a:ext cx="210312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237744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scipy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463040"/>
            <a:ext cx="4114800" cy="457200"/>
          </a:xfrm>
          <a:prstGeom prst="rect">
            <a:avLst/>
          </a:prstGeom>
          <a:solidFill>
            <a:srgbClr val="F0F9F9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466344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PCA, transformations, metrics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77440" y="2011680"/>
            <a:ext cx="210312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2377440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TF-IDF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2011680"/>
            <a:ext cx="4114800" cy="457200"/>
          </a:xfrm>
          <a:prstGeom prst="rect">
            <a:avLst/>
          </a:prstGeom>
          <a:solidFill>
            <a:srgbClr val="F0F9F9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66344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vectorization, term weighting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560320"/>
            <a:ext cx="18288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45720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2560320"/>
            <a:ext cx="210312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237744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(branch: Gabriel)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2560320"/>
            <a:ext cx="4114800" cy="457200"/>
          </a:xfrm>
          <a:prstGeom prst="rect">
            <a:avLst/>
          </a:prstGeom>
          <a:solidFill>
            <a:srgbClr val="F0F9F9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466344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development, reproducibility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18288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45720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3108960"/>
            <a:ext cx="210312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2377440" y="3108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NumPy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3108960"/>
            <a:ext cx="4114800" cy="457200"/>
          </a:xfrm>
          <a:prstGeom prst="rect">
            <a:avLst/>
          </a:prstGeom>
          <a:solidFill>
            <a:srgbClr val="F0F9F9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4663440" y="3108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plots, variance plots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18288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45720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0" y="3657600"/>
            <a:ext cx="210312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/>
          <p:nvPr/>
        </p:nvSpPr>
        <p:spPr>
          <a:xfrm>
            <a:off x="2377440" y="3657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pytest, custom checks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0" y="3657600"/>
            <a:ext cx="4114800" cy="457200"/>
          </a:xfrm>
          <a:prstGeom prst="rect">
            <a:avLst/>
          </a:prstGeom>
          <a:solidFill>
            <a:srgbClr val="F0F9F9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7"/>
          <p:cNvSpPr/>
          <p:nvPr/>
        </p:nvSpPr>
        <p:spPr>
          <a:xfrm>
            <a:off x="4663440" y="3657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tests, integration validation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Impact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61-feature multimodal representation from raw kitchen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47% dimensional reduction while retaining 90% information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reproducible, production-ready ML 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6 Python scripts with 30+ automated checks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all technical decisions with mathematical justification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for Next Phases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(Clustering): Reduced computational complexity, faster algorithm convergence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(Recommendation): Fewer dimensions improve recommendation accuracy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(Graph Analysis): Efficient node representations for network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Scalable system with documented dependencies and validation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791</Words>
  <Application>Microsoft Office PowerPoint</Application>
  <PresentationFormat>Presentación en pantalla (16:9)</PresentationFormat>
  <Paragraphs>221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Kitchen Intelligence - Week 5 Report</dc:title>
  <dc:subject>PptxGenJS Presentation</dc:subject>
  <dc:creator>Gabriel Alonso Reyna</dc:creator>
  <cp:lastModifiedBy>u202126097 (Reyna Alvarado, Gabriel Alonso)</cp:lastModifiedBy>
  <cp:revision>4</cp:revision>
  <dcterms:created xsi:type="dcterms:W3CDTF">2026-05-02T15:39:59Z</dcterms:created>
  <dcterms:modified xsi:type="dcterms:W3CDTF">2026-05-02T16:41:53Z</dcterms:modified>
</cp:coreProperties>
</file>